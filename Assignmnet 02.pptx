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970020" y="3954526"/>
            <a:ext cx="97790" cy="234950"/>
          </a:xfrm>
          <a:custGeom>
            <a:avLst/>
            <a:gdLst/>
            <a:ahLst/>
            <a:cxnLst/>
            <a:rect l="l" t="t" r="r" b="b"/>
            <a:pathLst>
              <a:path w="97789" h="234950">
                <a:moveTo>
                  <a:pt x="97536" y="0"/>
                </a:moveTo>
                <a:lnTo>
                  <a:pt x="0" y="0"/>
                </a:lnTo>
                <a:lnTo>
                  <a:pt x="0" y="234696"/>
                </a:lnTo>
                <a:lnTo>
                  <a:pt x="97536" y="234696"/>
                </a:lnTo>
                <a:lnTo>
                  <a:pt x="97536" y="0"/>
                </a:lnTo>
                <a:close/>
              </a:path>
            </a:pathLst>
          </a:custGeom>
          <a:solidFill>
            <a:srgbClr val="EBED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5455030" y="8097901"/>
            <a:ext cx="97790" cy="234950"/>
          </a:xfrm>
          <a:custGeom>
            <a:avLst/>
            <a:gdLst/>
            <a:ahLst/>
            <a:cxnLst/>
            <a:rect l="l" t="t" r="r" b="b"/>
            <a:pathLst>
              <a:path w="97789" h="234950">
                <a:moveTo>
                  <a:pt x="97536" y="0"/>
                </a:moveTo>
                <a:lnTo>
                  <a:pt x="0" y="0"/>
                </a:lnTo>
                <a:lnTo>
                  <a:pt x="0" y="234696"/>
                </a:lnTo>
                <a:lnTo>
                  <a:pt x="97536" y="234696"/>
                </a:lnTo>
                <a:lnTo>
                  <a:pt x="97536" y="0"/>
                </a:lnTo>
                <a:close/>
              </a:path>
            </a:pathLst>
          </a:custGeom>
          <a:solidFill>
            <a:srgbClr val="EBED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902004" y="917194"/>
            <a:ext cx="5733415" cy="741807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6096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INDIVIDUAL</a:t>
            </a:r>
            <a:r>
              <a:rPr dirty="0" sz="1400" spc="-9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ASSIGNMENT</a:t>
            </a:r>
            <a:r>
              <a:rPr dirty="0" sz="1400" spc="-7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25" b="1">
                <a:solidFill>
                  <a:srgbClr val="0E1115"/>
                </a:solidFill>
                <a:latin typeface="Segoe UI"/>
                <a:cs typeface="Segoe UI"/>
              </a:rPr>
              <a:t>02</a:t>
            </a:r>
            <a:endParaRPr sz="1400">
              <a:latin typeface="Segoe UI"/>
              <a:cs typeface="Segoe UI"/>
            </a:endParaRPr>
          </a:p>
          <a:p>
            <a:pPr marL="12700" marR="2720975">
              <a:lnSpc>
                <a:spcPts val="3270"/>
              </a:lnSpc>
              <a:spcBef>
                <a:spcPts val="370"/>
              </a:spcBef>
              <a:tabLst>
                <a:tab pos="2028825" algn="l"/>
              </a:tabLst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ABEL</a:t>
            </a:r>
            <a:r>
              <a:rPr dirty="0" sz="1400" spc="-4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ANDUALEM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	ID-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1411130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C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OMPILER</a:t>
            </a:r>
            <a:r>
              <a:rPr dirty="0" sz="1400" spc="-6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DESIGN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205"/>
              </a:spcBef>
            </a:pPr>
            <a:r>
              <a:rPr dirty="0" u="sng" sz="1400" spc="-20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Left-</a:t>
            </a:r>
            <a:r>
              <a:rPr dirty="0" u="sng" sz="1400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Factoring</a:t>
            </a:r>
            <a:r>
              <a:rPr dirty="0" u="sng" sz="1400" spc="-15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 </a:t>
            </a:r>
            <a:r>
              <a:rPr dirty="0" u="sng" sz="1400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in</a:t>
            </a:r>
            <a:r>
              <a:rPr dirty="0" u="sng" sz="1400" spc="-40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 </a:t>
            </a:r>
            <a:r>
              <a:rPr dirty="0" u="sng" sz="1400" spc="-10" b="1">
                <a:solidFill>
                  <a:srgbClr val="0E1115"/>
                </a:solidFill>
                <a:uFill>
                  <a:solidFill>
                    <a:srgbClr val="0E1115"/>
                  </a:solidFill>
                </a:uFill>
                <a:latin typeface="Segoe UI"/>
                <a:cs typeface="Segoe UI"/>
              </a:rPr>
              <a:t>Parsing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What</a:t>
            </a:r>
            <a:r>
              <a:rPr dirty="0" sz="1400" spc="-2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is</a:t>
            </a:r>
            <a:r>
              <a:rPr dirty="0" sz="1400" spc="-1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Left-Factoring?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11400"/>
              </a:lnSpc>
              <a:spcBef>
                <a:spcPts val="790"/>
              </a:spcBef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grammar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transformation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technique</a:t>
            </a:r>
            <a:r>
              <a:rPr dirty="0" sz="1400" spc="-5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that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eliminates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common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prefixes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Segoe UI"/>
                <a:cs typeface="Segoe UI"/>
              </a:rPr>
              <a:t>in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production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rules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to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enable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deterministic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parsing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without</a:t>
            </a:r>
            <a:r>
              <a:rPr dirty="0" sz="1400" spc="-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backtracking.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The</a:t>
            </a:r>
            <a:r>
              <a:rPr dirty="0" sz="1400" spc="-4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Problem</a:t>
            </a:r>
            <a:r>
              <a:rPr dirty="0" sz="1400" spc="-2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It</a:t>
            </a:r>
            <a:r>
              <a:rPr dirty="0" sz="1400" spc="-3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Solves: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When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</a:t>
            </a:r>
            <a:r>
              <a:rPr dirty="0" sz="1400" spc="-2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parser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sees</a:t>
            </a:r>
            <a:r>
              <a:rPr dirty="0" sz="1400" spc="-2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input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starting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with</a:t>
            </a:r>
            <a:r>
              <a:rPr dirty="0" sz="1400" spc="2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a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,</a:t>
            </a:r>
            <a:r>
              <a:rPr dirty="0" sz="1400" spc="-2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and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the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grammar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has: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12700" marR="5127625">
              <a:lnSpc>
                <a:spcPts val="1630"/>
              </a:lnSpc>
              <a:spcBef>
                <a:spcPts val="1055"/>
              </a:spcBef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A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1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aB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A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1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aC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Which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production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to</a:t>
            </a:r>
            <a:r>
              <a:rPr dirty="0" sz="1400" spc="-5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choose?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Left-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factoring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removes</a:t>
            </a:r>
            <a:r>
              <a:rPr dirty="0" sz="1400" spc="-4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this</a:t>
            </a:r>
            <a:r>
              <a:rPr dirty="0" sz="1400" spc="-4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ambiguity.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How</a:t>
            </a:r>
            <a:r>
              <a:rPr dirty="0" sz="1400" spc="-3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It</a:t>
            </a:r>
            <a:r>
              <a:rPr dirty="0" sz="1400" spc="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Works: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Original</a:t>
            </a:r>
            <a:r>
              <a:rPr dirty="0" sz="1400" spc="-7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(Problematic):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1377950" algn="l"/>
              </a:tabLst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aB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|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aC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	//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Both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start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with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'a'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After</a:t>
            </a:r>
            <a:r>
              <a:rPr dirty="0" sz="1400" spc="-6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Left-Factoring:</a:t>
            </a:r>
            <a:endParaRPr sz="14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5"/>
              </a:lnSpc>
              <a:spcBef>
                <a:spcPts val="960"/>
              </a:spcBef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1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aS'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ts val="1655"/>
              </a:lnSpc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S'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B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|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C</a:t>
            </a:r>
            <a:endParaRPr sz="14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Now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the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parser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can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choose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based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on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the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next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token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after</a:t>
            </a:r>
            <a:r>
              <a:rPr dirty="0" sz="1400" spc="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25">
                <a:solidFill>
                  <a:srgbClr val="0E1115"/>
                </a:solidFill>
                <a:latin typeface="Consolas"/>
                <a:cs typeface="Consolas"/>
              </a:rPr>
              <a:t>a</a:t>
            </a:r>
            <a:r>
              <a:rPr dirty="0" sz="1400" spc="-25">
                <a:solidFill>
                  <a:srgbClr val="0E1115"/>
                </a:solidFill>
                <a:latin typeface="Segoe UI"/>
                <a:cs typeface="Segoe UI"/>
              </a:rPr>
              <a:t>.</a:t>
            </a:r>
            <a:endParaRPr sz="14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73404" y="917194"/>
            <a:ext cx="5234305" cy="7219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90"/>
              </a:spcBef>
            </a:pP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Algorithm:</a:t>
            </a:r>
            <a:endParaRPr sz="140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585"/>
              </a:spcBef>
              <a:buAutoNum type="arabicPeriod"/>
              <a:tabLst>
                <a:tab pos="241300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Identify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productions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with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common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prefixes</a:t>
            </a:r>
            <a:endParaRPr sz="140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70"/>
              </a:spcBef>
              <a:buAutoNum type="arabicPeriod"/>
              <a:tabLst>
                <a:tab pos="241300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Factor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out</a:t>
            </a:r>
            <a:r>
              <a:rPr dirty="0" sz="1400" spc="-3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the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common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part</a:t>
            </a:r>
            <a:endParaRPr sz="1400">
              <a:latin typeface="Segoe UI"/>
              <a:cs typeface="Segoe UI"/>
            </a:endParaRPr>
          </a:p>
          <a:p>
            <a:pPr marL="241300" indent="-228600">
              <a:lnSpc>
                <a:spcPct val="100000"/>
              </a:lnSpc>
              <a:spcBef>
                <a:spcPts val="190"/>
              </a:spcBef>
              <a:buAutoNum type="arabicPeriod"/>
              <a:tabLst>
                <a:tab pos="241300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Create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new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non-terminal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for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remaining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choices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180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Real</a:t>
            </a:r>
            <a:r>
              <a:rPr dirty="0" sz="1400" spc="-4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Example: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965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Before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(if-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else</a:t>
            </a:r>
            <a:r>
              <a:rPr dirty="0" sz="1400" spc="-2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ambiguity):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745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241300">
              <a:lnSpc>
                <a:spcPts val="1655"/>
              </a:lnSpc>
              <a:spcBef>
                <a:spcPts val="960"/>
              </a:spcBef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if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(expr)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endParaRPr sz="1400">
              <a:latin typeface="Consolas"/>
              <a:cs typeface="Consolas"/>
            </a:endParaRPr>
          </a:p>
          <a:p>
            <a:pPr marL="728980">
              <a:lnSpc>
                <a:spcPts val="1655"/>
              </a:lnSpc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|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if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(expr)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r>
              <a:rPr dirty="0" sz="1400" spc="-3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else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endParaRPr sz="140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  <a:spcBef>
                <a:spcPts val="1010"/>
              </a:spcBef>
            </a:pP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After: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745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241300" marR="1565275">
              <a:lnSpc>
                <a:spcPts val="1630"/>
              </a:lnSpc>
              <a:spcBef>
                <a:spcPts val="1055"/>
              </a:spcBef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if</a:t>
            </a:r>
            <a:r>
              <a:rPr dirty="0" sz="1400" spc="-5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(expr)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r>
              <a:rPr dirty="0" sz="1400" spc="-3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Consolas"/>
                <a:cs typeface="Consolas"/>
              </a:rPr>
              <a:t>optional_else optional_else</a:t>
            </a:r>
            <a:r>
              <a:rPr dirty="0" sz="1400" spc="-4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4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else</a:t>
            </a:r>
            <a:r>
              <a:rPr dirty="0" sz="1400" spc="-4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stmt</a:t>
            </a:r>
            <a:r>
              <a:rPr dirty="0" sz="1400" spc="-4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|</a:t>
            </a:r>
            <a:r>
              <a:rPr dirty="0" sz="1400" spc="-4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ε</a:t>
            </a:r>
            <a:endParaRPr sz="14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400">
              <a:latin typeface="Consolas"/>
              <a:cs typeface="Consolas"/>
            </a:endParaRPr>
          </a:p>
          <a:p>
            <a:pPr marL="241300">
              <a:lnSpc>
                <a:spcPct val="100000"/>
              </a:lnSpc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Why</a:t>
            </a:r>
            <a:r>
              <a:rPr dirty="0" sz="1400" spc="-3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It</a:t>
            </a:r>
            <a:r>
              <a:rPr dirty="0" sz="1400" spc="-4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Matters</a:t>
            </a:r>
            <a:r>
              <a:rPr dirty="0" sz="1400" spc="-3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in</a:t>
            </a:r>
            <a:r>
              <a:rPr dirty="0" sz="1400" spc="-3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Compilers:</a:t>
            </a:r>
            <a:endParaRPr sz="1400">
              <a:latin typeface="Segoe UI"/>
              <a:cs typeface="Segoe UI"/>
            </a:endParaRPr>
          </a:p>
          <a:p>
            <a:pPr lvl="1" marL="240665" indent="-227965">
              <a:lnSpc>
                <a:spcPct val="100000"/>
              </a:lnSpc>
              <a:spcBef>
                <a:spcPts val="156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Essential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for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LL</a:t>
            </a:r>
            <a:r>
              <a:rPr dirty="0" sz="1400" spc="-3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and</a:t>
            </a:r>
            <a:r>
              <a:rPr dirty="0" sz="1400" spc="-2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recursive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descent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 parsers</a:t>
            </a:r>
            <a:endParaRPr sz="1400">
              <a:latin typeface="Segoe UI"/>
              <a:cs typeface="Segoe UI"/>
            </a:endParaRPr>
          </a:p>
          <a:p>
            <a:pPr lvl="1" marL="240665" indent="-227965">
              <a:lnSpc>
                <a:spcPct val="100000"/>
              </a:lnSpc>
              <a:spcBef>
                <a:spcPts val="17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Prevents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backtracking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→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faster</a:t>
            </a:r>
            <a:r>
              <a:rPr dirty="0" sz="1400" spc="-6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parsing</a:t>
            </a:r>
            <a:endParaRPr sz="1400">
              <a:latin typeface="Segoe UI"/>
              <a:cs typeface="Segoe UI"/>
            </a:endParaRPr>
          </a:p>
          <a:p>
            <a:pPr lvl="1" marL="240665" indent="-227965">
              <a:lnSpc>
                <a:spcPct val="100000"/>
              </a:lnSpc>
              <a:spcBef>
                <a:spcPts val="195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Enables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predictive</a:t>
            </a:r>
            <a:r>
              <a:rPr dirty="0" sz="1400" spc="-5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parsing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→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simpler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parser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design</a:t>
            </a:r>
            <a:endParaRPr sz="1400">
              <a:latin typeface="Segoe UI"/>
              <a:cs typeface="Segoe UI"/>
            </a:endParaRPr>
          </a:p>
          <a:p>
            <a:pPr lvl="1" marL="240665" indent="-227965">
              <a:lnSpc>
                <a:spcPct val="100000"/>
              </a:lnSpc>
              <a:spcBef>
                <a:spcPts val="190"/>
              </a:spcBef>
              <a:buSzPct val="71428"/>
              <a:buFont typeface="Symbol"/>
              <a:buChar char=""/>
              <a:tabLst>
                <a:tab pos="240665" algn="l"/>
              </a:tabLst>
            </a:pP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Resolves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dangling</a:t>
            </a:r>
            <a:r>
              <a:rPr dirty="0" sz="1400" spc="-5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else</a:t>
            </a:r>
            <a:r>
              <a:rPr dirty="0" sz="1400" spc="-5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problem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180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Compiler</a:t>
            </a:r>
            <a:r>
              <a:rPr dirty="0" sz="1400" spc="-75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Pipeline</a:t>
            </a:r>
            <a:r>
              <a:rPr dirty="0" sz="1400" spc="-8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Context:</a:t>
            </a:r>
            <a:endParaRPr sz="1400">
              <a:latin typeface="Segoe UI"/>
              <a:cs typeface="Segoe UI"/>
            </a:endParaRPr>
          </a:p>
          <a:p>
            <a:pPr marL="241300">
              <a:lnSpc>
                <a:spcPct val="100000"/>
              </a:lnSpc>
              <a:spcBef>
                <a:spcPts val="725"/>
              </a:spcBef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text</a:t>
            </a:r>
            <a:endParaRPr sz="1400">
              <a:latin typeface="Consolas"/>
              <a:cs typeface="Consolas"/>
            </a:endParaRPr>
          </a:p>
          <a:p>
            <a:pPr marL="241300" marR="5080">
              <a:lnSpc>
                <a:spcPts val="1630"/>
              </a:lnSpc>
              <a:spcBef>
                <a:spcPts val="1055"/>
              </a:spcBef>
            </a:pP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Lexical</a:t>
            </a:r>
            <a:r>
              <a:rPr dirty="0" sz="1400" spc="-7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Analysis</a:t>
            </a:r>
            <a:r>
              <a:rPr dirty="0" sz="1400" spc="-7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7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Grammar</a:t>
            </a:r>
            <a:r>
              <a:rPr dirty="0" sz="1400" spc="-7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Consolas"/>
                <a:cs typeface="Consolas"/>
              </a:rPr>
              <a:t>Transformations</a:t>
            </a:r>
            <a:r>
              <a:rPr dirty="0" sz="1400" spc="-70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→</a:t>
            </a:r>
            <a:r>
              <a:rPr dirty="0" sz="1400" spc="-6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Consolas"/>
                <a:cs typeface="Consolas"/>
              </a:rPr>
              <a:t>Parser Generation</a:t>
            </a:r>
            <a:endParaRPr sz="1400">
              <a:latin typeface="Consolas"/>
              <a:cs typeface="Consolas"/>
            </a:endParaRPr>
          </a:p>
          <a:p>
            <a:pPr marL="2488565">
              <a:lnSpc>
                <a:spcPts val="1590"/>
              </a:lnSpc>
            </a:pPr>
            <a:r>
              <a:rPr dirty="0" sz="1400" spc="-50">
                <a:solidFill>
                  <a:srgbClr val="0E1115"/>
                </a:solidFill>
                <a:latin typeface="Consolas"/>
                <a:cs typeface="Consolas"/>
              </a:rPr>
              <a:t>↑</a:t>
            </a:r>
            <a:endParaRPr sz="1400">
              <a:latin typeface="Consolas"/>
              <a:cs typeface="Consolas"/>
            </a:endParaRPr>
          </a:p>
          <a:p>
            <a:pPr marL="1704339">
              <a:lnSpc>
                <a:spcPts val="1655"/>
              </a:lnSpc>
            </a:pP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Left-</a:t>
            </a:r>
            <a:r>
              <a:rPr dirty="0" sz="1400">
                <a:solidFill>
                  <a:srgbClr val="0E1115"/>
                </a:solidFill>
                <a:latin typeface="Consolas"/>
                <a:cs typeface="Consolas"/>
              </a:rPr>
              <a:t>Factoring</a:t>
            </a:r>
            <a:r>
              <a:rPr dirty="0" sz="1400" spc="-95">
                <a:solidFill>
                  <a:srgbClr val="0E1115"/>
                </a:solidFill>
                <a:latin typeface="Consolas"/>
                <a:cs typeface="Consolas"/>
              </a:rPr>
              <a:t> </a:t>
            </a:r>
            <a:r>
              <a:rPr dirty="0" sz="1400" spc="-20">
                <a:solidFill>
                  <a:srgbClr val="0E1115"/>
                </a:solidFill>
                <a:latin typeface="Consolas"/>
                <a:cs typeface="Consolas"/>
              </a:rPr>
              <a:t>here</a:t>
            </a:r>
            <a:endParaRPr sz="140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02004" y="917194"/>
            <a:ext cx="5708650" cy="814069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400" b="1">
                <a:solidFill>
                  <a:srgbClr val="0E1115"/>
                </a:solidFill>
                <a:latin typeface="Segoe UI"/>
                <a:cs typeface="Segoe UI"/>
              </a:rPr>
              <a:t>Key</a:t>
            </a:r>
            <a:r>
              <a:rPr dirty="0" sz="1400" spc="-60" b="1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 b="1">
                <a:solidFill>
                  <a:srgbClr val="0E1115"/>
                </a:solidFill>
                <a:latin typeface="Segoe UI"/>
                <a:cs typeface="Segoe UI"/>
              </a:rPr>
              <a:t>Takeaway:</a:t>
            </a:r>
            <a:endParaRPr sz="1400">
              <a:latin typeface="Segoe UI"/>
              <a:cs typeface="Segoe UI"/>
            </a:endParaRPr>
          </a:p>
          <a:p>
            <a:pPr marL="12700" marR="5080">
              <a:lnSpc>
                <a:spcPct val="111600"/>
              </a:lnSpc>
              <a:spcBef>
                <a:spcPts val="790"/>
              </a:spcBef>
            </a:pP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Left-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factoring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transforms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ambiguous</a:t>
            </a:r>
            <a:r>
              <a:rPr dirty="0" sz="1400" spc="-5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grammar</a:t>
            </a:r>
            <a:r>
              <a:rPr dirty="0" sz="1400" spc="-6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choices</a:t>
            </a:r>
            <a:r>
              <a:rPr dirty="0" sz="1400" spc="-5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into</a:t>
            </a:r>
            <a:r>
              <a:rPr dirty="0" sz="1400" spc="-6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deterministic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decisions,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making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top-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down</a:t>
            </a:r>
            <a:r>
              <a:rPr dirty="0" sz="1400" spc="-4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parsing</a:t>
            </a:r>
            <a:r>
              <a:rPr dirty="0" sz="1400" spc="-20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efficient</a:t>
            </a:r>
            <a:r>
              <a:rPr dirty="0" sz="1400" spc="-3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>
                <a:solidFill>
                  <a:srgbClr val="0E1115"/>
                </a:solidFill>
                <a:latin typeface="Segoe UI"/>
                <a:cs typeface="Segoe UI"/>
              </a:rPr>
              <a:t>and</a:t>
            </a:r>
            <a:r>
              <a:rPr dirty="0" sz="1400" spc="-45">
                <a:solidFill>
                  <a:srgbClr val="0E111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0E1115"/>
                </a:solidFill>
                <a:latin typeface="Segoe UI"/>
                <a:cs typeface="Segoe UI"/>
              </a:rPr>
              <a:t>reliable.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915923" y="1900179"/>
            <a:ext cx="1626870" cy="472440"/>
            <a:chOff x="915923" y="1900179"/>
            <a:chExt cx="1626870" cy="472440"/>
          </a:xfrm>
        </p:grpSpPr>
        <p:sp>
          <p:nvSpPr>
            <p:cNvPr id="4" name="object 4" descr=""/>
            <p:cNvSpPr/>
            <p:nvPr/>
          </p:nvSpPr>
          <p:spPr>
            <a:xfrm>
              <a:off x="915911" y="1900186"/>
              <a:ext cx="1626870" cy="472440"/>
            </a:xfrm>
            <a:custGeom>
              <a:avLst/>
              <a:gdLst/>
              <a:ahLst/>
              <a:cxnLst/>
              <a:rect l="l" t="t" r="r" b="b"/>
              <a:pathLst>
                <a:path w="1626870" h="472439">
                  <a:moveTo>
                    <a:pt x="1626527" y="0"/>
                  </a:moveTo>
                  <a:lnTo>
                    <a:pt x="12560" y="0"/>
                  </a:lnTo>
                  <a:lnTo>
                    <a:pt x="0" y="0"/>
                  </a:lnTo>
                  <a:lnTo>
                    <a:pt x="0" y="472389"/>
                  </a:lnTo>
                  <a:lnTo>
                    <a:pt x="12560" y="472389"/>
                  </a:lnTo>
                  <a:lnTo>
                    <a:pt x="12560" y="12852"/>
                  </a:lnTo>
                  <a:lnTo>
                    <a:pt x="1626527" y="12852"/>
                  </a:lnTo>
                  <a:lnTo>
                    <a:pt x="1626527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928471" y="1913051"/>
              <a:ext cx="1614170" cy="459740"/>
            </a:xfrm>
            <a:custGeom>
              <a:avLst/>
              <a:gdLst/>
              <a:ahLst/>
              <a:cxnLst/>
              <a:rect l="l" t="t" r="r" b="b"/>
              <a:pathLst>
                <a:path w="1614170" h="459739">
                  <a:moveTo>
                    <a:pt x="1613916" y="0"/>
                  </a:moveTo>
                  <a:lnTo>
                    <a:pt x="1607477" y="0"/>
                  </a:lnTo>
                  <a:lnTo>
                    <a:pt x="1607477" y="452945"/>
                  </a:lnTo>
                  <a:lnTo>
                    <a:pt x="0" y="452945"/>
                  </a:lnTo>
                  <a:lnTo>
                    <a:pt x="0" y="459524"/>
                  </a:lnTo>
                  <a:lnTo>
                    <a:pt x="1607477" y="459524"/>
                  </a:lnTo>
                  <a:lnTo>
                    <a:pt x="1613916" y="459524"/>
                  </a:lnTo>
                  <a:lnTo>
                    <a:pt x="1613916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928471" y="1913038"/>
              <a:ext cx="1607820" cy="453390"/>
            </a:xfrm>
            <a:custGeom>
              <a:avLst/>
              <a:gdLst/>
              <a:ahLst/>
              <a:cxnLst/>
              <a:rect l="l" t="t" r="r" b="b"/>
              <a:pathLst>
                <a:path w="1607820" h="453389">
                  <a:moveTo>
                    <a:pt x="1594954" y="133946"/>
                  </a:moveTo>
                  <a:lnTo>
                    <a:pt x="1443024" y="133946"/>
                  </a:lnTo>
                  <a:lnTo>
                    <a:pt x="1443024" y="146812"/>
                  </a:lnTo>
                  <a:lnTo>
                    <a:pt x="1594954" y="146812"/>
                  </a:lnTo>
                  <a:lnTo>
                    <a:pt x="1594954" y="133946"/>
                  </a:lnTo>
                  <a:close/>
                </a:path>
                <a:path w="1607820" h="453389">
                  <a:moveTo>
                    <a:pt x="1607527" y="6286"/>
                  </a:moveTo>
                  <a:lnTo>
                    <a:pt x="1607515" y="12"/>
                  </a:lnTo>
                  <a:lnTo>
                    <a:pt x="6438" y="0"/>
                  </a:lnTo>
                  <a:lnTo>
                    <a:pt x="0" y="0"/>
                  </a:lnTo>
                  <a:lnTo>
                    <a:pt x="0" y="452958"/>
                  </a:lnTo>
                  <a:lnTo>
                    <a:pt x="6438" y="452958"/>
                  </a:lnTo>
                  <a:lnTo>
                    <a:pt x="6438" y="6286"/>
                  </a:lnTo>
                  <a:lnTo>
                    <a:pt x="1594967" y="6286"/>
                  </a:lnTo>
                  <a:lnTo>
                    <a:pt x="1594967" y="146812"/>
                  </a:lnTo>
                  <a:lnTo>
                    <a:pt x="1607527" y="146812"/>
                  </a:lnTo>
                  <a:lnTo>
                    <a:pt x="1607527" y="6286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371496" y="1919325"/>
              <a:ext cx="152400" cy="128270"/>
            </a:xfrm>
            <a:custGeom>
              <a:avLst/>
              <a:gdLst/>
              <a:ahLst/>
              <a:cxnLst/>
              <a:rect l="l" t="t" r="r" b="b"/>
              <a:pathLst>
                <a:path w="152400" h="128269">
                  <a:moveTo>
                    <a:pt x="151879" y="0"/>
                  </a:moveTo>
                  <a:lnTo>
                    <a:pt x="12560" y="0"/>
                  </a:lnTo>
                  <a:lnTo>
                    <a:pt x="0" y="0"/>
                  </a:lnTo>
                  <a:lnTo>
                    <a:pt x="0" y="127660"/>
                  </a:lnTo>
                  <a:lnTo>
                    <a:pt x="12560" y="127660"/>
                  </a:lnTo>
                  <a:lnTo>
                    <a:pt x="12560" y="12852"/>
                  </a:lnTo>
                  <a:lnTo>
                    <a:pt x="151879" y="12852"/>
                  </a:lnTo>
                  <a:lnTo>
                    <a:pt x="15187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384006" y="1932177"/>
              <a:ext cx="139700" cy="114935"/>
            </a:xfrm>
            <a:custGeom>
              <a:avLst/>
              <a:gdLst/>
              <a:ahLst/>
              <a:cxnLst/>
              <a:rect l="l" t="t" r="r" b="b"/>
              <a:pathLst>
                <a:path w="139700" h="114935">
                  <a:moveTo>
                    <a:pt x="132943" y="108534"/>
                  </a:moveTo>
                  <a:lnTo>
                    <a:pt x="0" y="108534"/>
                  </a:lnTo>
                  <a:lnTo>
                    <a:pt x="0" y="114808"/>
                  </a:lnTo>
                  <a:lnTo>
                    <a:pt x="132943" y="114808"/>
                  </a:lnTo>
                  <a:lnTo>
                    <a:pt x="132943" y="108534"/>
                  </a:lnTo>
                  <a:close/>
                </a:path>
                <a:path w="139700" h="114935">
                  <a:moveTo>
                    <a:pt x="139420" y="0"/>
                  </a:moveTo>
                  <a:lnTo>
                    <a:pt x="132981" y="0"/>
                  </a:lnTo>
                  <a:lnTo>
                    <a:pt x="132981" y="114808"/>
                  </a:lnTo>
                  <a:lnTo>
                    <a:pt x="139420" y="114808"/>
                  </a:lnTo>
                  <a:lnTo>
                    <a:pt x="13942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390464" y="1938447"/>
              <a:ext cx="127000" cy="102870"/>
            </a:xfrm>
            <a:custGeom>
              <a:avLst/>
              <a:gdLst/>
              <a:ahLst/>
              <a:cxnLst/>
              <a:rect l="l" t="t" r="r" b="b"/>
              <a:pathLst>
                <a:path w="127000" h="102869">
                  <a:moveTo>
                    <a:pt x="126508" y="0"/>
                  </a:moveTo>
                  <a:lnTo>
                    <a:pt x="0" y="0"/>
                  </a:lnTo>
                  <a:lnTo>
                    <a:pt x="0" y="102250"/>
                  </a:lnTo>
                  <a:lnTo>
                    <a:pt x="126508" y="102250"/>
                  </a:lnTo>
                  <a:lnTo>
                    <a:pt x="12650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2428506" y="1983307"/>
              <a:ext cx="69850" cy="38735"/>
            </a:xfrm>
            <a:custGeom>
              <a:avLst/>
              <a:gdLst/>
              <a:ahLst/>
              <a:cxnLst/>
              <a:rect l="l" t="t" r="r" b="b"/>
              <a:pathLst>
                <a:path w="69850" h="38735">
                  <a:moveTo>
                    <a:pt x="69532" y="31686"/>
                  </a:moveTo>
                  <a:lnTo>
                    <a:pt x="63296" y="31686"/>
                  </a:lnTo>
                  <a:lnTo>
                    <a:pt x="63296" y="25412"/>
                  </a:lnTo>
                  <a:lnTo>
                    <a:pt x="56934" y="25412"/>
                  </a:lnTo>
                  <a:lnTo>
                    <a:pt x="56934" y="19126"/>
                  </a:lnTo>
                  <a:lnTo>
                    <a:pt x="50507" y="19126"/>
                  </a:lnTo>
                  <a:lnTo>
                    <a:pt x="50507" y="12547"/>
                  </a:lnTo>
                  <a:lnTo>
                    <a:pt x="44399" y="12547"/>
                  </a:lnTo>
                  <a:lnTo>
                    <a:pt x="44399" y="6273"/>
                  </a:lnTo>
                  <a:lnTo>
                    <a:pt x="37909" y="6273"/>
                  </a:lnTo>
                  <a:lnTo>
                    <a:pt x="37909" y="0"/>
                  </a:lnTo>
                  <a:lnTo>
                    <a:pt x="31470" y="0"/>
                  </a:lnTo>
                  <a:lnTo>
                    <a:pt x="31470" y="6273"/>
                  </a:lnTo>
                  <a:lnTo>
                    <a:pt x="25412" y="6273"/>
                  </a:lnTo>
                  <a:lnTo>
                    <a:pt x="25412" y="12547"/>
                  </a:lnTo>
                  <a:lnTo>
                    <a:pt x="18961" y="12547"/>
                  </a:lnTo>
                  <a:lnTo>
                    <a:pt x="18961" y="19126"/>
                  </a:lnTo>
                  <a:lnTo>
                    <a:pt x="12509" y="19126"/>
                  </a:lnTo>
                  <a:lnTo>
                    <a:pt x="12509" y="25412"/>
                  </a:lnTo>
                  <a:lnTo>
                    <a:pt x="6324" y="25412"/>
                  </a:lnTo>
                  <a:lnTo>
                    <a:pt x="6324" y="31686"/>
                  </a:lnTo>
                  <a:lnTo>
                    <a:pt x="0" y="31686"/>
                  </a:lnTo>
                  <a:lnTo>
                    <a:pt x="0" y="38265"/>
                  </a:lnTo>
                  <a:lnTo>
                    <a:pt x="69532" y="38265"/>
                  </a:lnTo>
                  <a:lnTo>
                    <a:pt x="69532" y="3168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2415870" y="1970455"/>
              <a:ext cx="69850" cy="38735"/>
            </a:xfrm>
            <a:custGeom>
              <a:avLst/>
              <a:gdLst/>
              <a:ahLst/>
              <a:cxnLst/>
              <a:rect l="l" t="t" r="r" b="b"/>
              <a:pathLst>
                <a:path w="69850" h="38735">
                  <a:moveTo>
                    <a:pt x="69532" y="31978"/>
                  </a:moveTo>
                  <a:lnTo>
                    <a:pt x="63157" y="31978"/>
                  </a:lnTo>
                  <a:lnTo>
                    <a:pt x="63157" y="25400"/>
                  </a:lnTo>
                  <a:lnTo>
                    <a:pt x="57048" y="25400"/>
                  </a:lnTo>
                  <a:lnTo>
                    <a:pt x="57048" y="19126"/>
                  </a:lnTo>
                  <a:lnTo>
                    <a:pt x="50507" y="19126"/>
                  </a:lnTo>
                  <a:lnTo>
                    <a:pt x="50507" y="12852"/>
                  </a:lnTo>
                  <a:lnTo>
                    <a:pt x="44145" y="12852"/>
                  </a:lnTo>
                  <a:lnTo>
                    <a:pt x="44145" y="6273"/>
                  </a:lnTo>
                  <a:lnTo>
                    <a:pt x="38036" y="6273"/>
                  </a:lnTo>
                  <a:lnTo>
                    <a:pt x="38036" y="0"/>
                  </a:lnTo>
                  <a:lnTo>
                    <a:pt x="31597" y="0"/>
                  </a:lnTo>
                  <a:lnTo>
                    <a:pt x="31597" y="6273"/>
                  </a:lnTo>
                  <a:lnTo>
                    <a:pt x="25146" y="6273"/>
                  </a:lnTo>
                  <a:lnTo>
                    <a:pt x="25146" y="12852"/>
                  </a:lnTo>
                  <a:lnTo>
                    <a:pt x="18961" y="12852"/>
                  </a:lnTo>
                  <a:lnTo>
                    <a:pt x="18961" y="19126"/>
                  </a:lnTo>
                  <a:lnTo>
                    <a:pt x="12636" y="19126"/>
                  </a:lnTo>
                  <a:lnTo>
                    <a:pt x="12636" y="25400"/>
                  </a:lnTo>
                  <a:lnTo>
                    <a:pt x="6184" y="25400"/>
                  </a:lnTo>
                  <a:lnTo>
                    <a:pt x="6184" y="31978"/>
                  </a:lnTo>
                  <a:lnTo>
                    <a:pt x="0" y="31978"/>
                  </a:lnTo>
                  <a:lnTo>
                    <a:pt x="0" y="38265"/>
                  </a:lnTo>
                  <a:lnTo>
                    <a:pt x="69532" y="38265"/>
                  </a:lnTo>
                  <a:lnTo>
                    <a:pt x="69532" y="31978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2371496" y="2059850"/>
              <a:ext cx="165100" cy="140335"/>
            </a:xfrm>
            <a:custGeom>
              <a:avLst/>
              <a:gdLst/>
              <a:ahLst/>
              <a:cxnLst/>
              <a:rect l="l" t="t" r="r" b="b"/>
              <a:pathLst>
                <a:path w="165100" h="140335">
                  <a:moveTo>
                    <a:pt x="151930" y="127660"/>
                  </a:moveTo>
                  <a:lnTo>
                    <a:pt x="0" y="127660"/>
                  </a:lnTo>
                  <a:lnTo>
                    <a:pt x="0" y="140220"/>
                  </a:lnTo>
                  <a:lnTo>
                    <a:pt x="151930" y="140220"/>
                  </a:lnTo>
                  <a:lnTo>
                    <a:pt x="151930" y="127660"/>
                  </a:lnTo>
                  <a:close/>
                </a:path>
                <a:path w="165100" h="140335">
                  <a:moveTo>
                    <a:pt x="164503" y="0"/>
                  </a:moveTo>
                  <a:lnTo>
                    <a:pt x="151942" y="0"/>
                  </a:lnTo>
                  <a:lnTo>
                    <a:pt x="151942" y="140220"/>
                  </a:lnTo>
                  <a:lnTo>
                    <a:pt x="164503" y="140220"/>
                  </a:lnTo>
                  <a:lnTo>
                    <a:pt x="164503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371496" y="2059850"/>
              <a:ext cx="152400" cy="128270"/>
            </a:xfrm>
            <a:custGeom>
              <a:avLst/>
              <a:gdLst/>
              <a:ahLst/>
              <a:cxnLst/>
              <a:rect l="l" t="t" r="r" b="b"/>
              <a:pathLst>
                <a:path w="152400" h="128269">
                  <a:moveTo>
                    <a:pt x="151879" y="0"/>
                  </a:moveTo>
                  <a:lnTo>
                    <a:pt x="12560" y="0"/>
                  </a:lnTo>
                  <a:lnTo>
                    <a:pt x="0" y="0"/>
                  </a:lnTo>
                  <a:lnTo>
                    <a:pt x="0" y="127660"/>
                  </a:lnTo>
                  <a:lnTo>
                    <a:pt x="12560" y="127660"/>
                  </a:lnTo>
                  <a:lnTo>
                    <a:pt x="12560" y="12560"/>
                  </a:lnTo>
                  <a:lnTo>
                    <a:pt x="151879" y="12560"/>
                  </a:lnTo>
                  <a:lnTo>
                    <a:pt x="151879" y="0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2384006" y="2072398"/>
              <a:ext cx="139700" cy="115570"/>
            </a:xfrm>
            <a:custGeom>
              <a:avLst/>
              <a:gdLst/>
              <a:ahLst/>
              <a:cxnLst/>
              <a:rect l="l" t="t" r="r" b="b"/>
              <a:pathLst>
                <a:path w="139700" h="115569">
                  <a:moveTo>
                    <a:pt x="132943" y="108534"/>
                  </a:moveTo>
                  <a:lnTo>
                    <a:pt x="0" y="108534"/>
                  </a:lnTo>
                  <a:lnTo>
                    <a:pt x="0" y="115112"/>
                  </a:lnTo>
                  <a:lnTo>
                    <a:pt x="132943" y="115112"/>
                  </a:lnTo>
                  <a:lnTo>
                    <a:pt x="132943" y="108534"/>
                  </a:lnTo>
                  <a:close/>
                </a:path>
                <a:path w="139700" h="115569">
                  <a:moveTo>
                    <a:pt x="139420" y="0"/>
                  </a:moveTo>
                  <a:lnTo>
                    <a:pt x="132981" y="0"/>
                  </a:lnTo>
                  <a:lnTo>
                    <a:pt x="132981" y="115112"/>
                  </a:lnTo>
                  <a:lnTo>
                    <a:pt x="139420" y="115112"/>
                  </a:lnTo>
                  <a:lnTo>
                    <a:pt x="139420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2390464" y="2078969"/>
              <a:ext cx="127000" cy="102235"/>
            </a:xfrm>
            <a:custGeom>
              <a:avLst/>
              <a:gdLst/>
              <a:ahLst/>
              <a:cxnLst/>
              <a:rect l="l" t="t" r="r" b="b"/>
              <a:pathLst>
                <a:path w="127000" h="102235">
                  <a:moveTo>
                    <a:pt x="126508" y="0"/>
                  </a:moveTo>
                  <a:lnTo>
                    <a:pt x="0" y="0"/>
                  </a:lnTo>
                  <a:lnTo>
                    <a:pt x="0" y="101952"/>
                  </a:lnTo>
                  <a:lnTo>
                    <a:pt x="126508" y="101952"/>
                  </a:lnTo>
                  <a:lnTo>
                    <a:pt x="126508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2428506" y="2123528"/>
              <a:ext cx="69850" cy="38735"/>
            </a:xfrm>
            <a:custGeom>
              <a:avLst/>
              <a:gdLst/>
              <a:ahLst/>
              <a:cxnLst/>
              <a:rect l="l" t="t" r="r" b="b"/>
              <a:pathLst>
                <a:path w="69850" h="38735">
                  <a:moveTo>
                    <a:pt x="44399" y="25717"/>
                  </a:moveTo>
                  <a:lnTo>
                    <a:pt x="25412" y="25717"/>
                  </a:lnTo>
                  <a:lnTo>
                    <a:pt x="25412" y="31991"/>
                  </a:lnTo>
                  <a:lnTo>
                    <a:pt x="31470" y="31991"/>
                  </a:lnTo>
                  <a:lnTo>
                    <a:pt x="31470" y="38277"/>
                  </a:lnTo>
                  <a:lnTo>
                    <a:pt x="37909" y="38277"/>
                  </a:lnTo>
                  <a:lnTo>
                    <a:pt x="37909" y="31991"/>
                  </a:lnTo>
                  <a:lnTo>
                    <a:pt x="44399" y="31991"/>
                  </a:lnTo>
                  <a:lnTo>
                    <a:pt x="44399" y="25717"/>
                  </a:lnTo>
                  <a:close/>
                </a:path>
                <a:path w="69850" h="38735">
                  <a:moveTo>
                    <a:pt x="50507" y="19138"/>
                  </a:moveTo>
                  <a:lnTo>
                    <a:pt x="18961" y="19138"/>
                  </a:lnTo>
                  <a:lnTo>
                    <a:pt x="18961" y="25704"/>
                  </a:lnTo>
                  <a:lnTo>
                    <a:pt x="50507" y="25704"/>
                  </a:lnTo>
                  <a:lnTo>
                    <a:pt x="50507" y="19138"/>
                  </a:lnTo>
                  <a:close/>
                </a:path>
                <a:path w="69850" h="38735">
                  <a:moveTo>
                    <a:pt x="69532" y="0"/>
                  </a:moveTo>
                  <a:lnTo>
                    <a:pt x="0" y="0"/>
                  </a:lnTo>
                  <a:lnTo>
                    <a:pt x="0" y="6578"/>
                  </a:lnTo>
                  <a:lnTo>
                    <a:pt x="6324" y="6578"/>
                  </a:lnTo>
                  <a:lnTo>
                    <a:pt x="6324" y="12852"/>
                  </a:lnTo>
                  <a:lnTo>
                    <a:pt x="12509" y="12852"/>
                  </a:lnTo>
                  <a:lnTo>
                    <a:pt x="12509" y="19126"/>
                  </a:lnTo>
                  <a:lnTo>
                    <a:pt x="56934" y="19126"/>
                  </a:lnTo>
                  <a:lnTo>
                    <a:pt x="56934" y="12852"/>
                  </a:lnTo>
                  <a:lnTo>
                    <a:pt x="63296" y="12852"/>
                  </a:lnTo>
                  <a:lnTo>
                    <a:pt x="63296" y="6578"/>
                  </a:lnTo>
                  <a:lnTo>
                    <a:pt x="69532" y="6578"/>
                  </a:lnTo>
                  <a:lnTo>
                    <a:pt x="6953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2415870" y="2110968"/>
              <a:ext cx="69850" cy="38735"/>
            </a:xfrm>
            <a:custGeom>
              <a:avLst/>
              <a:gdLst/>
              <a:ahLst/>
              <a:cxnLst/>
              <a:rect l="l" t="t" r="r" b="b"/>
              <a:pathLst>
                <a:path w="69850" h="38735">
                  <a:moveTo>
                    <a:pt x="38036" y="31699"/>
                  </a:moveTo>
                  <a:lnTo>
                    <a:pt x="31597" y="31699"/>
                  </a:lnTo>
                  <a:lnTo>
                    <a:pt x="31597" y="38265"/>
                  </a:lnTo>
                  <a:lnTo>
                    <a:pt x="38036" y="38265"/>
                  </a:lnTo>
                  <a:lnTo>
                    <a:pt x="38036" y="31699"/>
                  </a:lnTo>
                  <a:close/>
                </a:path>
                <a:path w="69850" h="38735">
                  <a:moveTo>
                    <a:pt x="69532" y="0"/>
                  </a:moveTo>
                  <a:lnTo>
                    <a:pt x="0" y="0"/>
                  </a:lnTo>
                  <a:lnTo>
                    <a:pt x="0" y="6286"/>
                  </a:lnTo>
                  <a:lnTo>
                    <a:pt x="6184" y="6286"/>
                  </a:lnTo>
                  <a:lnTo>
                    <a:pt x="6184" y="12560"/>
                  </a:lnTo>
                  <a:lnTo>
                    <a:pt x="12636" y="12560"/>
                  </a:lnTo>
                  <a:lnTo>
                    <a:pt x="12636" y="19138"/>
                  </a:lnTo>
                  <a:lnTo>
                    <a:pt x="18961" y="19138"/>
                  </a:lnTo>
                  <a:lnTo>
                    <a:pt x="18961" y="25412"/>
                  </a:lnTo>
                  <a:lnTo>
                    <a:pt x="25146" y="25412"/>
                  </a:lnTo>
                  <a:lnTo>
                    <a:pt x="25146" y="31686"/>
                  </a:lnTo>
                  <a:lnTo>
                    <a:pt x="44145" y="31686"/>
                  </a:lnTo>
                  <a:lnTo>
                    <a:pt x="44145" y="25412"/>
                  </a:lnTo>
                  <a:lnTo>
                    <a:pt x="50507" y="25412"/>
                  </a:lnTo>
                  <a:lnTo>
                    <a:pt x="50507" y="19138"/>
                  </a:lnTo>
                  <a:lnTo>
                    <a:pt x="57048" y="19138"/>
                  </a:lnTo>
                  <a:lnTo>
                    <a:pt x="57048" y="12560"/>
                  </a:lnTo>
                  <a:lnTo>
                    <a:pt x="63157" y="12560"/>
                  </a:lnTo>
                  <a:lnTo>
                    <a:pt x="63157" y="6286"/>
                  </a:lnTo>
                  <a:lnTo>
                    <a:pt x="69532" y="6286"/>
                  </a:lnTo>
                  <a:lnTo>
                    <a:pt x="69532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118387" y="2200071"/>
              <a:ext cx="183515" cy="166370"/>
            </a:xfrm>
            <a:custGeom>
              <a:avLst/>
              <a:gdLst/>
              <a:ahLst/>
              <a:cxnLst/>
              <a:rect l="l" t="t" r="r" b="b"/>
              <a:pathLst>
                <a:path w="183515" h="166369">
                  <a:moveTo>
                    <a:pt x="183476" y="0"/>
                  </a:moveTo>
                  <a:lnTo>
                    <a:pt x="170916" y="0"/>
                  </a:lnTo>
                  <a:lnTo>
                    <a:pt x="170916" y="153365"/>
                  </a:lnTo>
                  <a:lnTo>
                    <a:pt x="0" y="153365"/>
                  </a:lnTo>
                  <a:lnTo>
                    <a:pt x="0" y="165925"/>
                  </a:lnTo>
                  <a:lnTo>
                    <a:pt x="170916" y="165925"/>
                  </a:lnTo>
                  <a:lnTo>
                    <a:pt x="183476" y="165925"/>
                  </a:lnTo>
                  <a:lnTo>
                    <a:pt x="183476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118387" y="2200058"/>
              <a:ext cx="171450" cy="153670"/>
            </a:xfrm>
            <a:custGeom>
              <a:avLst/>
              <a:gdLst/>
              <a:ahLst/>
              <a:cxnLst/>
              <a:rect l="l" t="t" r="r" b="b"/>
              <a:pathLst>
                <a:path w="171450" h="153669">
                  <a:moveTo>
                    <a:pt x="170929" y="12"/>
                  </a:moveTo>
                  <a:lnTo>
                    <a:pt x="12865" y="12"/>
                  </a:lnTo>
                  <a:lnTo>
                    <a:pt x="0" y="0"/>
                  </a:lnTo>
                  <a:lnTo>
                    <a:pt x="0" y="153377"/>
                  </a:lnTo>
                  <a:lnTo>
                    <a:pt x="12865" y="153377"/>
                  </a:lnTo>
                  <a:lnTo>
                    <a:pt x="12865" y="12865"/>
                  </a:lnTo>
                  <a:lnTo>
                    <a:pt x="170929" y="12865"/>
                  </a:lnTo>
                  <a:lnTo>
                    <a:pt x="170929" y="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1131252" y="2212923"/>
              <a:ext cx="158115" cy="140970"/>
            </a:xfrm>
            <a:custGeom>
              <a:avLst/>
              <a:gdLst/>
              <a:ahLst/>
              <a:cxnLst/>
              <a:rect l="l" t="t" r="r" b="b"/>
              <a:pathLst>
                <a:path w="158115" h="140969">
                  <a:moveTo>
                    <a:pt x="158064" y="0"/>
                  </a:moveTo>
                  <a:lnTo>
                    <a:pt x="151625" y="0"/>
                  </a:lnTo>
                  <a:lnTo>
                    <a:pt x="151625" y="133946"/>
                  </a:lnTo>
                  <a:lnTo>
                    <a:pt x="0" y="133946"/>
                  </a:lnTo>
                  <a:lnTo>
                    <a:pt x="0" y="140512"/>
                  </a:lnTo>
                  <a:lnTo>
                    <a:pt x="151625" y="140512"/>
                  </a:lnTo>
                  <a:lnTo>
                    <a:pt x="158064" y="140512"/>
                  </a:lnTo>
                  <a:lnTo>
                    <a:pt x="158064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1137376" y="2219198"/>
              <a:ext cx="146050" cy="128270"/>
            </a:xfrm>
            <a:custGeom>
              <a:avLst/>
              <a:gdLst/>
              <a:ahLst/>
              <a:cxnLst/>
              <a:rect l="l" t="t" r="r" b="b"/>
              <a:pathLst>
                <a:path w="146050" h="128269">
                  <a:moveTo>
                    <a:pt x="145494" y="0"/>
                  </a:moveTo>
                  <a:lnTo>
                    <a:pt x="0" y="0"/>
                  </a:lnTo>
                  <a:lnTo>
                    <a:pt x="0" y="127661"/>
                  </a:lnTo>
                  <a:lnTo>
                    <a:pt x="145494" y="127661"/>
                  </a:lnTo>
                  <a:lnTo>
                    <a:pt x="14549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1870" y="2200064"/>
              <a:ext cx="886140" cy="165929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934910" y="2200071"/>
              <a:ext cx="183515" cy="166370"/>
            </a:xfrm>
            <a:custGeom>
              <a:avLst/>
              <a:gdLst/>
              <a:ahLst/>
              <a:cxnLst/>
              <a:rect l="l" t="t" r="r" b="b"/>
              <a:pathLst>
                <a:path w="183515" h="166369">
                  <a:moveTo>
                    <a:pt x="183476" y="0"/>
                  </a:moveTo>
                  <a:lnTo>
                    <a:pt x="170916" y="0"/>
                  </a:lnTo>
                  <a:lnTo>
                    <a:pt x="170916" y="153365"/>
                  </a:lnTo>
                  <a:lnTo>
                    <a:pt x="0" y="153365"/>
                  </a:lnTo>
                  <a:lnTo>
                    <a:pt x="0" y="165925"/>
                  </a:lnTo>
                  <a:lnTo>
                    <a:pt x="170916" y="165925"/>
                  </a:lnTo>
                  <a:lnTo>
                    <a:pt x="183476" y="165925"/>
                  </a:lnTo>
                  <a:lnTo>
                    <a:pt x="183476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34910" y="2200058"/>
              <a:ext cx="171450" cy="153670"/>
            </a:xfrm>
            <a:custGeom>
              <a:avLst/>
              <a:gdLst/>
              <a:ahLst/>
              <a:cxnLst/>
              <a:rect l="l" t="t" r="r" b="b"/>
              <a:pathLst>
                <a:path w="171450" h="153669">
                  <a:moveTo>
                    <a:pt x="170916" y="12"/>
                  </a:moveTo>
                  <a:lnTo>
                    <a:pt x="12560" y="12"/>
                  </a:lnTo>
                  <a:lnTo>
                    <a:pt x="0" y="0"/>
                  </a:lnTo>
                  <a:lnTo>
                    <a:pt x="0" y="153377"/>
                  </a:lnTo>
                  <a:lnTo>
                    <a:pt x="12560" y="153377"/>
                  </a:lnTo>
                  <a:lnTo>
                    <a:pt x="12560" y="12865"/>
                  </a:lnTo>
                  <a:lnTo>
                    <a:pt x="170916" y="12865"/>
                  </a:lnTo>
                  <a:lnTo>
                    <a:pt x="170916" y="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47470" y="2212923"/>
              <a:ext cx="158750" cy="140970"/>
            </a:xfrm>
            <a:custGeom>
              <a:avLst/>
              <a:gdLst/>
              <a:ahLst/>
              <a:cxnLst/>
              <a:rect l="l" t="t" r="r" b="b"/>
              <a:pathLst>
                <a:path w="158750" h="140969">
                  <a:moveTo>
                    <a:pt x="158356" y="0"/>
                  </a:moveTo>
                  <a:lnTo>
                    <a:pt x="151930" y="0"/>
                  </a:lnTo>
                  <a:lnTo>
                    <a:pt x="151930" y="133946"/>
                  </a:lnTo>
                  <a:lnTo>
                    <a:pt x="0" y="133946"/>
                  </a:lnTo>
                  <a:lnTo>
                    <a:pt x="0" y="140512"/>
                  </a:lnTo>
                  <a:lnTo>
                    <a:pt x="151930" y="140512"/>
                  </a:lnTo>
                  <a:lnTo>
                    <a:pt x="158356" y="140512"/>
                  </a:lnTo>
                  <a:lnTo>
                    <a:pt x="158356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53905" y="2219198"/>
              <a:ext cx="146050" cy="128270"/>
            </a:xfrm>
            <a:custGeom>
              <a:avLst/>
              <a:gdLst/>
              <a:ahLst/>
              <a:cxnLst/>
              <a:rect l="l" t="t" r="r" b="b"/>
              <a:pathLst>
                <a:path w="146050" h="128269">
                  <a:moveTo>
                    <a:pt x="145494" y="0"/>
                  </a:moveTo>
                  <a:lnTo>
                    <a:pt x="0" y="0"/>
                  </a:lnTo>
                  <a:lnTo>
                    <a:pt x="0" y="127661"/>
                  </a:lnTo>
                  <a:lnTo>
                    <a:pt x="145494" y="127661"/>
                  </a:lnTo>
                  <a:lnTo>
                    <a:pt x="14549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023429" y="2264053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18986" y="19126"/>
                  </a:moveTo>
                  <a:lnTo>
                    <a:pt x="12865" y="19126"/>
                  </a:lnTo>
                  <a:lnTo>
                    <a:pt x="12865" y="25412"/>
                  </a:lnTo>
                  <a:lnTo>
                    <a:pt x="6438" y="25412"/>
                  </a:lnTo>
                  <a:lnTo>
                    <a:pt x="6438" y="31978"/>
                  </a:lnTo>
                  <a:lnTo>
                    <a:pt x="0" y="31978"/>
                  </a:lnTo>
                  <a:lnTo>
                    <a:pt x="0" y="38265"/>
                  </a:lnTo>
                  <a:lnTo>
                    <a:pt x="6438" y="38265"/>
                  </a:lnTo>
                  <a:lnTo>
                    <a:pt x="6438" y="44538"/>
                  </a:lnTo>
                  <a:lnTo>
                    <a:pt x="12865" y="44538"/>
                  </a:lnTo>
                  <a:lnTo>
                    <a:pt x="12865" y="51117"/>
                  </a:lnTo>
                  <a:lnTo>
                    <a:pt x="18986" y="51117"/>
                  </a:lnTo>
                  <a:lnTo>
                    <a:pt x="18986" y="19126"/>
                  </a:lnTo>
                  <a:close/>
                </a:path>
                <a:path w="38100" h="70485">
                  <a:moveTo>
                    <a:pt x="37973" y="0"/>
                  </a:moveTo>
                  <a:lnTo>
                    <a:pt x="31851" y="0"/>
                  </a:lnTo>
                  <a:lnTo>
                    <a:pt x="31851" y="6273"/>
                  </a:lnTo>
                  <a:lnTo>
                    <a:pt x="25425" y="6273"/>
                  </a:lnTo>
                  <a:lnTo>
                    <a:pt x="25425" y="12852"/>
                  </a:lnTo>
                  <a:lnTo>
                    <a:pt x="18999" y="12852"/>
                  </a:lnTo>
                  <a:lnTo>
                    <a:pt x="18999" y="57404"/>
                  </a:lnTo>
                  <a:lnTo>
                    <a:pt x="25425" y="57404"/>
                  </a:lnTo>
                  <a:lnTo>
                    <a:pt x="25425" y="63677"/>
                  </a:lnTo>
                  <a:lnTo>
                    <a:pt x="31851" y="63677"/>
                  </a:lnTo>
                  <a:lnTo>
                    <a:pt x="31851" y="70256"/>
                  </a:lnTo>
                  <a:lnTo>
                    <a:pt x="37973" y="70256"/>
                  </a:lnTo>
                  <a:lnTo>
                    <a:pt x="3797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1010869" y="2251188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31546" y="6578"/>
                  </a:moveTo>
                  <a:lnTo>
                    <a:pt x="25425" y="6578"/>
                  </a:lnTo>
                  <a:lnTo>
                    <a:pt x="25425" y="12865"/>
                  </a:lnTo>
                  <a:lnTo>
                    <a:pt x="18999" y="12865"/>
                  </a:lnTo>
                  <a:lnTo>
                    <a:pt x="18999" y="19138"/>
                  </a:lnTo>
                  <a:lnTo>
                    <a:pt x="12560" y="19138"/>
                  </a:lnTo>
                  <a:lnTo>
                    <a:pt x="12560" y="25717"/>
                  </a:lnTo>
                  <a:lnTo>
                    <a:pt x="6438" y="25717"/>
                  </a:lnTo>
                  <a:lnTo>
                    <a:pt x="6438" y="31991"/>
                  </a:lnTo>
                  <a:lnTo>
                    <a:pt x="0" y="31991"/>
                  </a:lnTo>
                  <a:lnTo>
                    <a:pt x="0" y="38277"/>
                  </a:lnTo>
                  <a:lnTo>
                    <a:pt x="6438" y="38277"/>
                  </a:lnTo>
                  <a:lnTo>
                    <a:pt x="6438" y="44843"/>
                  </a:lnTo>
                  <a:lnTo>
                    <a:pt x="12560" y="44843"/>
                  </a:lnTo>
                  <a:lnTo>
                    <a:pt x="12560" y="51130"/>
                  </a:lnTo>
                  <a:lnTo>
                    <a:pt x="18999" y="51130"/>
                  </a:lnTo>
                  <a:lnTo>
                    <a:pt x="18999" y="57404"/>
                  </a:lnTo>
                  <a:lnTo>
                    <a:pt x="25425" y="57404"/>
                  </a:lnTo>
                  <a:lnTo>
                    <a:pt x="25425" y="63982"/>
                  </a:lnTo>
                  <a:lnTo>
                    <a:pt x="31546" y="63982"/>
                  </a:lnTo>
                  <a:lnTo>
                    <a:pt x="31546" y="6578"/>
                  </a:lnTo>
                  <a:close/>
                </a:path>
                <a:path w="38100" h="70485">
                  <a:moveTo>
                    <a:pt x="37985" y="0"/>
                  </a:moveTo>
                  <a:lnTo>
                    <a:pt x="31559" y="0"/>
                  </a:lnTo>
                  <a:lnTo>
                    <a:pt x="31559" y="70269"/>
                  </a:lnTo>
                  <a:lnTo>
                    <a:pt x="37985" y="70269"/>
                  </a:lnTo>
                  <a:lnTo>
                    <a:pt x="37985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2187956" y="2200071"/>
              <a:ext cx="184150" cy="166370"/>
            </a:xfrm>
            <a:custGeom>
              <a:avLst/>
              <a:gdLst/>
              <a:ahLst/>
              <a:cxnLst/>
              <a:rect l="l" t="t" r="r" b="b"/>
              <a:pathLst>
                <a:path w="184150" h="166369">
                  <a:moveTo>
                    <a:pt x="170916" y="153377"/>
                  </a:moveTo>
                  <a:lnTo>
                    <a:pt x="0" y="153365"/>
                  </a:lnTo>
                  <a:lnTo>
                    <a:pt x="0" y="165925"/>
                  </a:lnTo>
                  <a:lnTo>
                    <a:pt x="170916" y="165925"/>
                  </a:lnTo>
                  <a:lnTo>
                    <a:pt x="170916" y="153377"/>
                  </a:lnTo>
                  <a:close/>
                </a:path>
                <a:path w="184150" h="166369">
                  <a:moveTo>
                    <a:pt x="183591" y="0"/>
                  </a:moveTo>
                  <a:lnTo>
                    <a:pt x="171030" y="0"/>
                  </a:lnTo>
                  <a:lnTo>
                    <a:pt x="171030" y="165925"/>
                  </a:lnTo>
                  <a:lnTo>
                    <a:pt x="183591" y="165925"/>
                  </a:lnTo>
                  <a:lnTo>
                    <a:pt x="183591" y="0"/>
                  </a:lnTo>
                  <a:close/>
                </a:path>
              </a:pathLst>
            </a:custGeom>
            <a:solidFill>
              <a:srgbClr val="69696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2187956" y="2200058"/>
              <a:ext cx="171450" cy="153670"/>
            </a:xfrm>
            <a:custGeom>
              <a:avLst/>
              <a:gdLst/>
              <a:ahLst/>
              <a:cxnLst/>
              <a:rect l="l" t="t" r="r" b="b"/>
              <a:pathLst>
                <a:path w="171450" h="153669">
                  <a:moveTo>
                    <a:pt x="12560" y="0"/>
                  </a:moveTo>
                  <a:lnTo>
                    <a:pt x="0" y="0"/>
                  </a:lnTo>
                  <a:lnTo>
                    <a:pt x="0" y="153377"/>
                  </a:lnTo>
                  <a:lnTo>
                    <a:pt x="12560" y="153377"/>
                  </a:lnTo>
                  <a:lnTo>
                    <a:pt x="12560" y="0"/>
                  </a:lnTo>
                  <a:close/>
                </a:path>
                <a:path w="171450" h="153669">
                  <a:moveTo>
                    <a:pt x="171005" y="12"/>
                  </a:moveTo>
                  <a:lnTo>
                    <a:pt x="12636" y="12"/>
                  </a:lnTo>
                  <a:lnTo>
                    <a:pt x="12636" y="12865"/>
                  </a:lnTo>
                  <a:lnTo>
                    <a:pt x="171005" y="12865"/>
                  </a:lnTo>
                  <a:lnTo>
                    <a:pt x="171005" y="12"/>
                  </a:lnTo>
                  <a:close/>
                </a:path>
              </a:pathLst>
            </a:custGeom>
            <a:solidFill>
              <a:srgbClr val="E2E2E2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 descr=""/>
            <p:cNvSpPr/>
            <p:nvPr/>
          </p:nvSpPr>
          <p:spPr>
            <a:xfrm>
              <a:off x="2200592" y="2212923"/>
              <a:ext cx="158750" cy="140970"/>
            </a:xfrm>
            <a:custGeom>
              <a:avLst/>
              <a:gdLst/>
              <a:ahLst/>
              <a:cxnLst/>
              <a:rect l="l" t="t" r="r" b="b"/>
              <a:pathLst>
                <a:path w="158750" h="140969">
                  <a:moveTo>
                    <a:pt x="151930" y="133946"/>
                  </a:moveTo>
                  <a:lnTo>
                    <a:pt x="0" y="133946"/>
                  </a:lnTo>
                  <a:lnTo>
                    <a:pt x="0" y="140512"/>
                  </a:lnTo>
                  <a:lnTo>
                    <a:pt x="151930" y="140525"/>
                  </a:lnTo>
                  <a:lnTo>
                    <a:pt x="151930" y="133946"/>
                  </a:lnTo>
                  <a:close/>
                </a:path>
                <a:path w="158750" h="140969">
                  <a:moveTo>
                    <a:pt x="158381" y="0"/>
                  </a:moveTo>
                  <a:lnTo>
                    <a:pt x="151942" y="0"/>
                  </a:lnTo>
                  <a:lnTo>
                    <a:pt x="151942" y="140525"/>
                  </a:lnTo>
                  <a:lnTo>
                    <a:pt x="158381" y="140525"/>
                  </a:lnTo>
                  <a:lnTo>
                    <a:pt x="158381" y="0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 descr=""/>
            <p:cNvSpPr/>
            <p:nvPr/>
          </p:nvSpPr>
          <p:spPr>
            <a:xfrm>
              <a:off x="2207047" y="2219198"/>
              <a:ext cx="146050" cy="128270"/>
            </a:xfrm>
            <a:custGeom>
              <a:avLst/>
              <a:gdLst/>
              <a:ahLst/>
              <a:cxnLst/>
              <a:rect l="l" t="t" r="r" b="b"/>
              <a:pathLst>
                <a:path w="146050" h="128269">
                  <a:moveTo>
                    <a:pt x="145494" y="0"/>
                  </a:moveTo>
                  <a:lnTo>
                    <a:pt x="0" y="0"/>
                  </a:lnTo>
                  <a:lnTo>
                    <a:pt x="0" y="127661"/>
                  </a:lnTo>
                  <a:lnTo>
                    <a:pt x="145494" y="127661"/>
                  </a:lnTo>
                  <a:lnTo>
                    <a:pt x="145494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2276564" y="2264053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6438" y="0"/>
                  </a:moveTo>
                  <a:lnTo>
                    <a:pt x="0" y="0"/>
                  </a:lnTo>
                  <a:lnTo>
                    <a:pt x="0" y="70256"/>
                  </a:lnTo>
                  <a:lnTo>
                    <a:pt x="6438" y="70256"/>
                  </a:lnTo>
                  <a:lnTo>
                    <a:pt x="6438" y="0"/>
                  </a:lnTo>
                  <a:close/>
                </a:path>
                <a:path w="38100" h="70485">
                  <a:moveTo>
                    <a:pt x="18897" y="12852"/>
                  </a:moveTo>
                  <a:lnTo>
                    <a:pt x="12877" y="12852"/>
                  </a:lnTo>
                  <a:lnTo>
                    <a:pt x="12877" y="6273"/>
                  </a:lnTo>
                  <a:lnTo>
                    <a:pt x="6451" y="6273"/>
                  </a:lnTo>
                  <a:lnTo>
                    <a:pt x="6451" y="63677"/>
                  </a:lnTo>
                  <a:lnTo>
                    <a:pt x="12877" y="63677"/>
                  </a:lnTo>
                  <a:lnTo>
                    <a:pt x="12877" y="57404"/>
                  </a:lnTo>
                  <a:lnTo>
                    <a:pt x="18897" y="57404"/>
                  </a:lnTo>
                  <a:lnTo>
                    <a:pt x="18897" y="12852"/>
                  </a:lnTo>
                  <a:close/>
                </a:path>
                <a:path w="38100" h="70485">
                  <a:moveTo>
                    <a:pt x="25400" y="19126"/>
                  </a:moveTo>
                  <a:lnTo>
                    <a:pt x="18961" y="19126"/>
                  </a:lnTo>
                  <a:lnTo>
                    <a:pt x="18961" y="51117"/>
                  </a:lnTo>
                  <a:lnTo>
                    <a:pt x="25400" y="51117"/>
                  </a:lnTo>
                  <a:lnTo>
                    <a:pt x="25400" y="19126"/>
                  </a:lnTo>
                  <a:close/>
                </a:path>
                <a:path w="38100" h="70485">
                  <a:moveTo>
                    <a:pt x="31838" y="25412"/>
                  </a:moveTo>
                  <a:lnTo>
                    <a:pt x="25412" y="25412"/>
                  </a:lnTo>
                  <a:lnTo>
                    <a:pt x="25412" y="44538"/>
                  </a:lnTo>
                  <a:lnTo>
                    <a:pt x="31838" y="44538"/>
                  </a:lnTo>
                  <a:lnTo>
                    <a:pt x="31838" y="25412"/>
                  </a:lnTo>
                  <a:close/>
                </a:path>
                <a:path w="38100" h="70485">
                  <a:moveTo>
                    <a:pt x="37985" y="31991"/>
                  </a:moveTo>
                  <a:lnTo>
                    <a:pt x="31851" y="31991"/>
                  </a:lnTo>
                  <a:lnTo>
                    <a:pt x="31851" y="38265"/>
                  </a:lnTo>
                  <a:lnTo>
                    <a:pt x="37985" y="38265"/>
                  </a:lnTo>
                  <a:lnTo>
                    <a:pt x="37985" y="319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2263927" y="2251188"/>
              <a:ext cx="38100" cy="70485"/>
            </a:xfrm>
            <a:custGeom>
              <a:avLst/>
              <a:gdLst/>
              <a:ahLst/>
              <a:cxnLst/>
              <a:rect l="l" t="t" r="r" b="b"/>
              <a:pathLst>
                <a:path w="38100" h="70485">
                  <a:moveTo>
                    <a:pt x="6426" y="0"/>
                  </a:moveTo>
                  <a:lnTo>
                    <a:pt x="0" y="0"/>
                  </a:lnTo>
                  <a:lnTo>
                    <a:pt x="0" y="70269"/>
                  </a:lnTo>
                  <a:lnTo>
                    <a:pt x="6426" y="70269"/>
                  </a:lnTo>
                  <a:lnTo>
                    <a:pt x="6426" y="0"/>
                  </a:lnTo>
                  <a:close/>
                </a:path>
                <a:path w="38100" h="70485">
                  <a:moveTo>
                    <a:pt x="12573" y="6578"/>
                  </a:moveTo>
                  <a:lnTo>
                    <a:pt x="6438" y="6578"/>
                  </a:lnTo>
                  <a:lnTo>
                    <a:pt x="6438" y="63982"/>
                  </a:lnTo>
                  <a:lnTo>
                    <a:pt x="12573" y="63982"/>
                  </a:lnTo>
                  <a:lnTo>
                    <a:pt x="12573" y="6578"/>
                  </a:lnTo>
                  <a:close/>
                </a:path>
                <a:path w="38100" h="70485">
                  <a:moveTo>
                    <a:pt x="19075" y="12865"/>
                  </a:moveTo>
                  <a:lnTo>
                    <a:pt x="12636" y="12865"/>
                  </a:lnTo>
                  <a:lnTo>
                    <a:pt x="12636" y="57404"/>
                  </a:lnTo>
                  <a:lnTo>
                    <a:pt x="19075" y="57404"/>
                  </a:lnTo>
                  <a:lnTo>
                    <a:pt x="19075" y="12865"/>
                  </a:lnTo>
                  <a:close/>
                </a:path>
                <a:path w="38100" h="70485">
                  <a:moveTo>
                    <a:pt x="31534" y="25717"/>
                  </a:moveTo>
                  <a:lnTo>
                    <a:pt x="25514" y="25717"/>
                  </a:lnTo>
                  <a:lnTo>
                    <a:pt x="25514" y="19138"/>
                  </a:lnTo>
                  <a:lnTo>
                    <a:pt x="19088" y="19138"/>
                  </a:lnTo>
                  <a:lnTo>
                    <a:pt x="19088" y="51130"/>
                  </a:lnTo>
                  <a:lnTo>
                    <a:pt x="25514" y="51130"/>
                  </a:lnTo>
                  <a:lnTo>
                    <a:pt x="25514" y="44856"/>
                  </a:lnTo>
                  <a:lnTo>
                    <a:pt x="31534" y="44856"/>
                  </a:lnTo>
                  <a:lnTo>
                    <a:pt x="31534" y="25717"/>
                  </a:lnTo>
                  <a:close/>
                </a:path>
                <a:path w="38100" h="70485">
                  <a:moveTo>
                    <a:pt x="38036" y="31991"/>
                  </a:moveTo>
                  <a:lnTo>
                    <a:pt x="31597" y="31991"/>
                  </a:lnTo>
                  <a:lnTo>
                    <a:pt x="31597" y="38277"/>
                  </a:lnTo>
                  <a:lnTo>
                    <a:pt x="38036" y="38277"/>
                  </a:lnTo>
                  <a:lnTo>
                    <a:pt x="38036" y="31991"/>
                  </a:lnTo>
                  <a:close/>
                </a:path>
              </a:pathLst>
            </a:custGeom>
            <a:solidFill>
              <a:srgbClr val="9F9F9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2371503" y="2200064"/>
              <a:ext cx="165100" cy="166370"/>
            </a:xfrm>
            <a:custGeom>
              <a:avLst/>
              <a:gdLst/>
              <a:ahLst/>
              <a:cxnLst/>
              <a:rect l="l" t="t" r="r" b="b"/>
              <a:pathLst>
                <a:path w="165100" h="166369">
                  <a:moveTo>
                    <a:pt x="164481" y="0"/>
                  </a:moveTo>
                  <a:lnTo>
                    <a:pt x="0" y="0"/>
                  </a:lnTo>
                  <a:lnTo>
                    <a:pt x="0" y="165929"/>
                  </a:lnTo>
                  <a:lnTo>
                    <a:pt x="164481" y="165929"/>
                  </a:lnTo>
                  <a:lnTo>
                    <a:pt x="164481" y="0"/>
                  </a:lnTo>
                  <a:close/>
                </a:path>
              </a:pathLst>
            </a:custGeom>
            <a:solidFill>
              <a:srgbClr val="EFEFEF"/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dcterms:created xsi:type="dcterms:W3CDTF">2026-01-22T11:24:37Z</dcterms:created>
  <dcterms:modified xsi:type="dcterms:W3CDTF">2026-01-22T11:24:37Z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2026-01-22T00:00:00Z</vt:filetime>
  </property>
  <property fmtid="{D5CDD505-2E9C-101B-9397-08002B2CF9AE}" pid="3" name="Creator">
    <vt:lpwstr>Microsoft® Word 2016</vt:lpwstr>
  </property>
  <property fmtid="{D5CDD505-2E9C-101B-9397-08002B2CF9AE}" pid="4" name="LastSaved">
    <vt:filetime>2026-01-22T00:00:00Z</vt:filetime>
  </property>
  <property fmtid="{D5CDD505-2E9C-101B-9397-08002B2CF9AE}" pid="5" name="Producer">
    <vt:lpwstr>www.ilovepdf.com</vt:lpwstr>
  </property>
</Properties>
</file>